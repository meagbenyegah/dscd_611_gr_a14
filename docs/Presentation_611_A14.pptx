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421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in project materials)
[/Sources]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Uber Request Data.csv (provided)
[/Sources]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a:effectLst/>
      </p:bgPr>
    </p:bg>
    <p:spTree>
      <p:nvGrpSpPr>
        <p:cNvPr id="1" name=""/>
        <p:cNvGrpSpPr/>
        <p:nvPr/>
      </p:nvGrpSpPr>
      <p:grpSpPr>
        <a:xfrm>
          <a:off x="0" y="0"/>
          <a:ext cx="0" cy="0"/>
          <a:chOff x="0" y="0"/>
          <a:chExt cx="0" cy="0"/>
        </a:xfrm>
      </p:grpSpPr>
      <p:sp>
        <p:nvSpPr>
          <p:cNvPr id="2" name="Text 0"/>
          <p:cNvSpPr/>
          <p:nvPr/>
        </p:nvSpPr>
        <p:spPr>
          <a:xfrm>
            <a:off x="731520" y="1645920"/>
            <a:ext cx="10728655" cy="731520"/>
          </a:xfrm>
          <a:prstGeom prst="rect">
            <a:avLst/>
          </a:prstGeom>
          <a:noFill/>
          <a:ln/>
        </p:spPr>
        <p:txBody>
          <a:bodyPr wrap="square" rtlCol="0" anchor="ctr"/>
          <a:lstStyle/>
          <a:p>
            <a:r>
              <a:rPr lang="en-US" sz="3200" b="1" dirty="0">
                <a:solidFill>
                  <a:schemeClr val="bg1"/>
                </a:solidFill>
              </a:rPr>
              <a:t>Uber Request Fulfilment, Problem-Driven Exploratory Analysis</a:t>
            </a:r>
            <a:endParaRPr lang="en-GH" sz="3200" dirty="0">
              <a:solidFill>
                <a:schemeClr val="bg1"/>
              </a:solidFill>
            </a:endParaRPr>
          </a:p>
        </p:txBody>
      </p:sp>
      <p:sp>
        <p:nvSpPr>
          <p:cNvPr id="3" name="Shape 1"/>
          <p:cNvSpPr/>
          <p:nvPr/>
        </p:nvSpPr>
        <p:spPr>
          <a:xfrm>
            <a:off x="731520" y="2560320"/>
            <a:ext cx="2194560" cy="73152"/>
          </a:xfrm>
          <a:prstGeom prst="rect">
            <a:avLst/>
          </a:prstGeom>
          <a:solidFill>
            <a:srgbClr val="00B14F"/>
          </a:solidFill>
          <a:ln w="12700">
            <a:solidFill>
              <a:srgbClr val="00B14F"/>
            </a:solidFill>
            <a:prstDash val="solid"/>
          </a:ln>
        </p:spPr>
        <p:txBody>
          <a:bodyPr/>
          <a:lstStyle/>
          <a:p>
            <a:endParaRPr lang="en-GH"/>
          </a:p>
        </p:txBody>
      </p:sp>
      <p:sp>
        <p:nvSpPr>
          <p:cNvPr id="4" name="Text 2"/>
          <p:cNvSpPr/>
          <p:nvPr/>
        </p:nvSpPr>
        <p:spPr>
          <a:xfrm>
            <a:off x="647544" y="4460033"/>
            <a:ext cx="10728655" cy="731520"/>
          </a:xfrm>
          <a:prstGeom prst="rect">
            <a:avLst/>
          </a:prstGeom>
          <a:noFill/>
          <a:ln/>
        </p:spPr>
        <p:txBody>
          <a:bodyPr wrap="square" rtlCol="0" anchor="ctr"/>
          <a:lstStyle/>
          <a:p>
            <a:pPr marL="0" indent="0">
              <a:buNone/>
            </a:pPr>
            <a:endParaRPr lang="en-US" sz="1600" dirty="0"/>
          </a:p>
        </p:txBody>
      </p:sp>
      <p:sp>
        <p:nvSpPr>
          <p:cNvPr id="6" name="Text 4"/>
          <p:cNvSpPr/>
          <p:nvPr/>
        </p:nvSpPr>
        <p:spPr>
          <a:xfrm>
            <a:off x="731520" y="2953512"/>
            <a:ext cx="10180015" cy="274320"/>
          </a:xfrm>
          <a:prstGeom prst="rect">
            <a:avLst/>
          </a:prstGeom>
          <a:noFill/>
          <a:ln/>
        </p:spPr>
        <p:txBody>
          <a:bodyPr wrap="square" rtlCol="0" anchor="ctr"/>
          <a:lstStyle/>
          <a:p>
            <a:r>
              <a:rPr lang="en-US" sz="2000" b="1" dirty="0">
                <a:solidFill>
                  <a:schemeClr val="bg1"/>
                </a:solidFill>
              </a:rPr>
              <a:t>DSCD 611: Programming for Data Scientists 1- Final Project</a:t>
            </a:r>
            <a:endParaRPr lang="en-US"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Problem framing &amp; research questions</a:t>
            </a:r>
            <a:endParaRPr lang="en-US" sz="2000" dirty="0"/>
          </a:p>
        </p:txBody>
      </p:sp>
      <p:sp>
        <p:nvSpPr>
          <p:cNvPr id="4" name="Text 2"/>
          <p:cNvSpPr/>
          <p:nvPr/>
        </p:nvSpPr>
        <p:spPr>
          <a:xfrm>
            <a:off x="644746" y="1622454"/>
            <a:ext cx="5394960"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Why this matters</a:t>
            </a:r>
            <a:endParaRPr lang="en-US" sz="1800" dirty="0"/>
          </a:p>
        </p:txBody>
      </p:sp>
      <p:sp>
        <p:nvSpPr>
          <p:cNvPr id="5" name="Text 3"/>
          <p:cNvSpPr/>
          <p:nvPr/>
        </p:nvSpPr>
        <p:spPr>
          <a:xfrm>
            <a:off x="283651" y="2766060"/>
            <a:ext cx="5394960" cy="1097280"/>
          </a:xfrm>
          <a:prstGeom prst="rect">
            <a:avLst/>
          </a:prstGeom>
          <a:noFill/>
          <a:ln/>
        </p:spPr>
        <p:txBody>
          <a:bodyPr wrap="square" rtlCol="0" anchor="t"/>
          <a:lstStyle/>
          <a:p>
            <a:r>
              <a:rPr lang="en-US" dirty="0"/>
              <a:t>Unmet requests (Cancelled or No Cars Available) indicate service failure; riders are unable to secure trips, suggesting supply–demand misalignment. Using exploratory data analysis, we identify key operational bottlenecks and propose practical, evidence-based interventions to reduce these failures.</a:t>
            </a:r>
          </a:p>
        </p:txBody>
      </p:sp>
      <p:sp>
        <p:nvSpPr>
          <p:cNvPr id="6" name="Shape 4"/>
          <p:cNvSpPr/>
          <p:nvPr/>
        </p:nvSpPr>
        <p:spPr>
          <a:xfrm>
            <a:off x="6400800" y="868680"/>
            <a:ext cx="5074920" cy="5257800"/>
          </a:xfrm>
          <a:prstGeom prst="roundRect">
            <a:avLst/>
          </a:prstGeom>
          <a:solidFill>
            <a:srgbClr val="F3F4F6"/>
          </a:solidFill>
          <a:ln w="12700">
            <a:solidFill>
              <a:srgbClr val="E5E7EB"/>
            </a:solidFill>
            <a:prstDash val="solid"/>
          </a:ln>
        </p:spPr>
        <p:txBody>
          <a:bodyPr/>
          <a:lstStyle/>
          <a:p>
            <a:endParaRPr lang="en-GH"/>
          </a:p>
        </p:txBody>
      </p:sp>
      <p:sp>
        <p:nvSpPr>
          <p:cNvPr id="7" name="Text 5"/>
          <p:cNvSpPr/>
          <p:nvPr/>
        </p:nvSpPr>
        <p:spPr>
          <a:xfrm>
            <a:off x="6629400" y="1051560"/>
            <a:ext cx="4617720" cy="365760"/>
          </a:xfrm>
          <a:prstGeom prst="rect">
            <a:avLst/>
          </a:prstGeom>
          <a:noFill/>
          <a:ln/>
        </p:spPr>
        <p:txBody>
          <a:bodyPr wrap="square" rtlCol="0" anchor="ctr"/>
          <a:lstStyle/>
          <a:p>
            <a:pPr marL="0" indent="0">
              <a:buNone/>
            </a:pPr>
            <a:r>
              <a:rPr lang="en-US" sz="1600" b="1" dirty="0">
                <a:solidFill>
                  <a:srgbClr val="111827"/>
                </a:solidFill>
                <a:latin typeface="Aptos" pitchFamily="34" charset="0"/>
                <a:ea typeface="Aptos" pitchFamily="34" charset="-122"/>
                <a:cs typeface="Aptos" pitchFamily="34" charset="-120"/>
              </a:rPr>
              <a:t>Research questions (answered with data)</a:t>
            </a:r>
            <a:endParaRPr lang="en-US" sz="1600" dirty="0"/>
          </a:p>
        </p:txBody>
      </p:sp>
      <p:sp>
        <p:nvSpPr>
          <p:cNvPr id="8" name="Text 6"/>
          <p:cNvSpPr/>
          <p:nvPr/>
        </p:nvSpPr>
        <p:spPr>
          <a:xfrm>
            <a:off x="6720840" y="1508760"/>
            <a:ext cx="4526280" cy="4389120"/>
          </a:xfrm>
          <a:prstGeom prst="rect">
            <a:avLst/>
          </a:prstGeom>
          <a:noFill/>
          <a:ln/>
        </p:spPr>
        <p:txBody>
          <a:bodyPr wrap="square" rtlCol="0" anchor="t"/>
          <a:lstStyle/>
          <a:p>
            <a:pPr marL="285750" lvl="0" indent="-285750">
              <a:buFont typeface="Wingdings" panose="05000000000000000000" pitchFamily="2" charset="2"/>
              <a:buChar char="§"/>
            </a:pPr>
            <a:r>
              <a:rPr lang="en-US" dirty="0"/>
              <a:t>What proportion of requests are completed vs unmet, and what is the dominant failure mode? </a:t>
            </a:r>
            <a:endParaRPr lang="en-GH" dirty="0"/>
          </a:p>
          <a:p>
            <a:pPr marL="285750" lvl="0" indent="-285750">
              <a:buFont typeface="Wingdings" panose="05000000000000000000" pitchFamily="2" charset="2"/>
              <a:buChar char="§"/>
            </a:pPr>
            <a:r>
              <a:rPr lang="en-US" dirty="0"/>
              <a:t>At which hours is the demand, supply gap (Requests − Completed) maximal? </a:t>
            </a:r>
            <a:endParaRPr lang="en-GH" dirty="0"/>
          </a:p>
          <a:p>
            <a:pPr marL="285750" lvl="0" indent="-285750">
              <a:buFont typeface="Wingdings" panose="05000000000000000000" pitchFamily="2" charset="2"/>
              <a:buChar char="§"/>
            </a:pPr>
            <a:r>
              <a:rPr lang="en-US" dirty="0"/>
              <a:t>Do outcome rates differ by pickup point (City vs Airport)?</a:t>
            </a:r>
            <a:endParaRPr lang="en-GH" dirty="0"/>
          </a:p>
          <a:p>
            <a:pPr marL="285750" lvl="0" indent="-285750">
              <a:buFont typeface="Wingdings" panose="05000000000000000000" pitchFamily="2" charset="2"/>
              <a:buChar char="§"/>
            </a:pPr>
            <a:r>
              <a:rPr lang="en-US" dirty="0"/>
              <a:t>Are there recurring </a:t>
            </a:r>
            <a:r>
              <a:rPr lang="en-US" dirty="0" err="1"/>
              <a:t>weekday×hour</a:t>
            </a:r>
            <a:r>
              <a:rPr lang="en-US" dirty="0"/>
              <a:t> hotspots for unmet demand?</a:t>
            </a:r>
            <a:endParaRPr lang="en-GH" dirty="0"/>
          </a:p>
        </p:txBody>
      </p:sp>
      <p:sp>
        <p:nvSpPr>
          <p:cNvPr id="9" name="Text 7"/>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EDA focus: descriptive analysis + actionable recommendations (no model training required by rubric)</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Dataset &amp; preparation</a:t>
            </a:r>
            <a:endParaRPr lang="en-US" sz="2000" dirty="0"/>
          </a:p>
        </p:txBody>
      </p:sp>
      <p:sp>
        <p:nvSpPr>
          <p:cNvPr id="4" name="Shape 2"/>
          <p:cNvSpPr/>
          <p:nvPr/>
        </p:nvSpPr>
        <p:spPr>
          <a:xfrm>
            <a:off x="731519" y="868680"/>
            <a:ext cx="9560145" cy="3218688"/>
          </a:xfrm>
          <a:prstGeom prst="roundRect">
            <a:avLst/>
          </a:prstGeom>
          <a:solidFill>
            <a:srgbClr val="FFFFFF"/>
          </a:solidFill>
          <a:ln w="12700">
            <a:solidFill>
              <a:srgbClr val="E5E7EB"/>
            </a:solidFill>
            <a:prstDash val="solid"/>
          </a:ln>
        </p:spPr>
        <p:txBody>
          <a:bodyPr/>
          <a:lstStyle/>
          <a:p>
            <a:endParaRPr lang="en-GH"/>
          </a:p>
        </p:txBody>
      </p:sp>
      <p:sp>
        <p:nvSpPr>
          <p:cNvPr id="5" name="Shape 3"/>
          <p:cNvSpPr/>
          <p:nvPr/>
        </p:nvSpPr>
        <p:spPr>
          <a:xfrm>
            <a:off x="731520" y="868680"/>
            <a:ext cx="109728" cy="2057400"/>
          </a:xfrm>
          <a:prstGeom prst="rect">
            <a:avLst/>
          </a:prstGeom>
          <a:solidFill>
            <a:srgbClr val="00B14F"/>
          </a:solidFill>
          <a:ln w="12700">
            <a:solidFill>
              <a:srgbClr val="00B14F"/>
            </a:solidFill>
            <a:prstDash val="solid"/>
          </a:ln>
        </p:spPr>
        <p:txBody>
          <a:bodyPr/>
          <a:lstStyle/>
          <a:p>
            <a:endParaRPr lang="en-GH"/>
          </a:p>
        </p:txBody>
      </p:sp>
      <p:sp>
        <p:nvSpPr>
          <p:cNvPr id="6" name="Text 4"/>
          <p:cNvSpPr/>
          <p:nvPr/>
        </p:nvSpPr>
        <p:spPr>
          <a:xfrm>
            <a:off x="914400" y="1005840"/>
            <a:ext cx="5120640"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Dataset snapshot</a:t>
            </a:r>
            <a:endParaRPr lang="en-US" sz="1300" dirty="0"/>
          </a:p>
        </p:txBody>
      </p:sp>
      <p:sp>
        <p:nvSpPr>
          <p:cNvPr id="7" name="Text 5"/>
          <p:cNvSpPr/>
          <p:nvPr/>
        </p:nvSpPr>
        <p:spPr>
          <a:xfrm>
            <a:off x="914400" y="1344168"/>
            <a:ext cx="9377264" cy="1463040"/>
          </a:xfrm>
          <a:prstGeom prst="rect">
            <a:avLst/>
          </a:prstGeom>
          <a:noFill/>
          <a:ln/>
        </p:spPr>
        <p:txBody>
          <a:bodyPr wrap="square" rtlCol="0" anchor="t"/>
          <a:lstStyle/>
          <a:p>
            <a:r>
              <a:rPr lang="en-US" sz="1600" dirty="0"/>
              <a:t>The dataset contains 6,745 ride requests across 14 columns, including key variables such as;</a:t>
            </a:r>
          </a:p>
          <a:p>
            <a:pPr marL="285750" indent="-285750">
              <a:buFont typeface="Arial" panose="020B0604020202020204" pitchFamily="34" charset="0"/>
              <a:buChar char="•"/>
            </a:pPr>
            <a:r>
              <a:rPr lang="en-US" sz="1600" b="1" dirty="0"/>
              <a:t>Request id, </a:t>
            </a:r>
          </a:p>
          <a:p>
            <a:pPr marL="285750" indent="-285750">
              <a:buFont typeface="Arial" panose="020B0604020202020204" pitchFamily="34" charset="0"/>
              <a:buChar char="•"/>
            </a:pPr>
            <a:r>
              <a:rPr lang="en-US" sz="1600" b="1" dirty="0"/>
              <a:t>Pickup point,</a:t>
            </a:r>
          </a:p>
          <a:p>
            <a:pPr marL="285750" indent="-285750">
              <a:buFont typeface="Arial" panose="020B0604020202020204" pitchFamily="34" charset="0"/>
              <a:buChar char="•"/>
            </a:pPr>
            <a:r>
              <a:rPr lang="en-US" sz="1600" b="1" dirty="0"/>
              <a:t>Driver id, </a:t>
            </a:r>
          </a:p>
          <a:p>
            <a:pPr marL="285750" indent="-285750">
              <a:buFont typeface="Arial" panose="020B0604020202020204" pitchFamily="34" charset="0"/>
              <a:buChar char="•"/>
            </a:pPr>
            <a:r>
              <a:rPr lang="en-US" sz="1600" b="1" dirty="0"/>
              <a:t>Status,</a:t>
            </a:r>
          </a:p>
          <a:p>
            <a:pPr marL="285750" indent="-285750">
              <a:buFont typeface="Arial" panose="020B0604020202020204" pitchFamily="34" charset="0"/>
              <a:buChar char="•"/>
            </a:pPr>
            <a:r>
              <a:rPr lang="en-US" sz="1600" b="1" dirty="0"/>
              <a:t> Request timestamp, </a:t>
            </a:r>
          </a:p>
          <a:p>
            <a:pPr marL="285750" indent="-285750">
              <a:buFont typeface="Arial" panose="020B0604020202020204" pitchFamily="34" charset="0"/>
              <a:buChar char="•"/>
            </a:pPr>
            <a:r>
              <a:rPr lang="en-US" sz="1600" b="1" dirty="0"/>
              <a:t>Drop timestamp</a:t>
            </a:r>
            <a:r>
              <a:rPr lang="en-US" sz="1600" dirty="0"/>
              <a:t>.</a:t>
            </a:r>
          </a:p>
          <a:p>
            <a:endParaRPr lang="en-US" sz="1600" dirty="0"/>
          </a:p>
          <a:p>
            <a:r>
              <a:rPr lang="en-US" sz="1600" dirty="0"/>
              <a:t> The timestamp fields appear in mixed formats and therefore require robust parsing (day-first with a fallback strategy). Missing values in the Driver id and Drop timestamp are expected for unmet requests and are treated as operationally meaningful rather than data errors.</a:t>
            </a:r>
          </a:p>
        </p:txBody>
      </p:sp>
      <p:sp>
        <p:nvSpPr>
          <p:cNvPr id="8" name="Shape 6"/>
          <p:cNvSpPr/>
          <p:nvPr/>
        </p:nvSpPr>
        <p:spPr>
          <a:xfrm>
            <a:off x="700887" y="4160520"/>
            <a:ext cx="5394960" cy="2121408"/>
          </a:xfrm>
          <a:prstGeom prst="roundRect">
            <a:avLst/>
          </a:prstGeom>
          <a:solidFill>
            <a:srgbClr val="FFFFFF"/>
          </a:solidFill>
          <a:ln w="12700">
            <a:solidFill>
              <a:srgbClr val="E5E7EB"/>
            </a:solidFill>
            <a:prstDash val="solid"/>
          </a:ln>
        </p:spPr>
        <p:txBody>
          <a:bodyPr/>
          <a:lstStyle/>
          <a:p>
            <a:endParaRPr lang="en-GH"/>
          </a:p>
        </p:txBody>
      </p:sp>
      <p:sp>
        <p:nvSpPr>
          <p:cNvPr id="9" name="Shape 7"/>
          <p:cNvSpPr/>
          <p:nvPr/>
        </p:nvSpPr>
        <p:spPr>
          <a:xfrm>
            <a:off x="731520" y="3063240"/>
            <a:ext cx="109728" cy="2834640"/>
          </a:xfrm>
          <a:prstGeom prst="rect">
            <a:avLst/>
          </a:prstGeom>
          <a:solidFill>
            <a:srgbClr val="2563EB"/>
          </a:solidFill>
          <a:ln w="12700">
            <a:solidFill>
              <a:srgbClr val="2563EB"/>
            </a:solidFill>
            <a:prstDash val="solid"/>
          </a:ln>
        </p:spPr>
        <p:txBody>
          <a:bodyPr/>
          <a:lstStyle/>
          <a:p>
            <a:endParaRPr lang="en-GH"/>
          </a:p>
        </p:txBody>
      </p:sp>
      <p:sp>
        <p:nvSpPr>
          <p:cNvPr id="10" name="Text 8"/>
          <p:cNvSpPr/>
          <p:nvPr/>
        </p:nvSpPr>
        <p:spPr>
          <a:xfrm>
            <a:off x="1259633" y="4196909"/>
            <a:ext cx="5120640"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Key definitions</a:t>
            </a:r>
            <a:endParaRPr lang="en-US" sz="1300" dirty="0"/>
          </a:p>
        </p:txBody>
      </p:sp>
      <p:sp>
        <p:nvSpPr>
          <p:cNvPr id="11" name="Text 9"/>
          <p:cNvSpPr/>
          <p:nvPr/>
        </p:nvSpPr>
        <p:spPr>
          <a:xfrm>
            <a:off x="975207" y="4160520"/>
            <a:ext cx="5120640" cy="1986861"/>
          </a:xfrm>
          <a:prstGeom prst="rect">
            <a:avLst/>
          </a:prstGeom>
          <a:noFill/>
          <a:ln/>
        </p:spPr>
        <p:txBody>
          <a:bodyPr wrap="square" rtlCol="0" anchor="t"/>
          <a:lstStyle/>
          <a:p>
            <a:pPr marL="0" indent="0">
              <a:buNone/>
            </a:pPr>
            <a:endParaRPr lang="en-US" sz="1400" dirty="0">
              <a:latin typeface="Aptos" pitchFamily="34" charset="0"/>
              <a:ea typeface="Aptos" pitchFamily="34" charset="-122"/>
              <a:cs typeface="Aptos" pitchFamily="34" charset="-120"/>
            </a:endParaRPr>
          </a:p>
          <a:p>
            <a:pPr marL="0" indent="0">
              <a:buNone/>
            </a:pPr>
            <a:endParaRPr lang="en-US" sz="1400" dirty="0">
              <a:latin typeface="Aptos" pitchFamily="34" charset="0"/>
              <a:ea typeface="Aptos" pitchFamily="34" charset="-122"/>
              <a:cs typeface="Aptos" pitchFamily="34" charset="-120"/>
            </a:endParaRPr>
          </a:p>
          <a:p>
            <a:pPr marL="0" indent="0">
              <a:buNone/>
            </a:pPr>
            <a:r>
              <a:rPr lang="en-US" sz="1400" dirty="0">
                <a:latin typeface="Aptos" pitchFamily="34" charset="0"/>
                <a:ea typeface="Aptos" pitchFamily="34" charset="-122"/>
                <a:cs typeface="Aptos" pitchFamily="34" charset="-120"/>
              </a:rPr>
              <a:t>Completed = Status == Trip Completed</a:t>
            </a:r>
            <a:endParaRPr lang="en-US" sz="1400" dirty="0"/>
          </a:p>
          <a:p>
            <a:pPr marL="0" indent="0">
              <a:buNone/>
            </a:pPr>
            <a:r>
              <a:rPr lang="en-US" sz="1400" dirty="0">
                <a:latin typeface="Aptos" pitchFamily="34" charset="0"/>
                <a:ea typeface="Aptos" pitchFamily="34" charset="-122"/>
                <a:cs typeface="Aptos" pitchFamily="34" charset="-120"/>
              </a:rPr>
              <a:t>Unmet = Cancelled OR No Cars Available</a:t>
            </a:r>
            <a:endParaRPr lang="en-US" sz="1400" dirty="0"/>
          </a:p>
          <a:p>
            <a:pPr marL="0" indent="0">
              <a:buNone/>
            </a:pPr>
            <a:r>
              <a:rPr lang="en-US" sz="1400" dirty="0">
                <a:latin typeface="Aptos" pitchFamily="34" charset="0"/>
                <a:ea typeface="Aptos" pitchFamily="34" charset="-122"/>
                <a:cs typeface="Aptos" pitchFamily="34" charset="-120"/>
              </a:rPr>
              <a:t>Demand (per hour) = #requests</a:t>
            </a:r>
            <a:endParaRPr lang="en-US" sz="1400" dirty="0"/>
          </a:p>
          <a:p>
            <a:pPr marL="0" indent="0">
              <a:buNone/>
            </a:pPr>
            <a:r>
              <a:rPr lang="en-US" sz="1400" dirty="0">
                <a:latin typeface="Aptos" pitchFamily="34" charset="0"/>
                <a:ea typeface="Aptos" pitchFamily="34" charset="-122"/>
                <a:cs typeface="Aptos" pitchFamily="34" charset="-120"/>
              </a:rPr>
              <a:t>Supply (per hour) = #completed trips</a:t>
            </a:r>
            <a:endParaRPr lang="en-US" sz="1400" dirty="0"/>
          </a:p>
          <a:p>
            <a:pPr marL="0" indent="0">
              <a:buNone/>
            </a:pPr>
            <a:r>
              <a:rPr lang="en-US" sz="1400" dirty="0">
                <a:latin typeface="Aptos" pitchFamily="34" charset="0"/>
                <a:ea typeface="Aptos" pitchFamily="34" charset="-122"/>
                <a:cs typeface="Aptos" pitchFamily="34" charset="-120"/>
              </a:rPr>
              <a:t>Gap = Demand − Supply</a:t>
            </a:r>
            <a:endParaRPr lang="en-US" sz="1400" dirty="0"/>
          </a:p>
          <a:p>
            <a:pPr marL="0" indent="0">
              <a:buNone/>
            </a:pPr>
            <a:r>
              <a:rPr lang="en-US" sz="1400" dirty="0">
                <a:latin typeface="Aptos" pitchFamily="34" charset="0"/>
                <a:ea typeface="Aptos" pitchFamily="34" charset="-122"/>
                <a:cs typeface="Aptos" pitchFamily="34" charset="-120"/>
              </a:rPr>
              <a:t>Hotspots = weekday×hour cells with high unmet counts</a:t>
            </a:r>
            <a:endParaRPr lang="en-US" sz="1400" dirty="0"/>
          </a:p>
        </p:txBody>
      </p:sp>
      <p:sp>
        <p:nvSpPr>
          <p:cNvPr id="15" name="Text 13"/>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Preparation: parse timestamps → engineer hour/weekday → compute status indicators &amp; gap metrics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Completed vs unmet requests</a:t>
            </a:r>
            <a:endParaRPr lang="en-US" sz="2000" dirty="0"/>
          </a:p>
        </p:txBody>
      </p:sp>
      <p:sp>
        <p:nvSpPr>
          <p:cNvPr id="4" name="Text 2"/>
          <p:cNvSpPr/>
          <p:nvPr/>
        </p:nvSpPr>
        <p:spPr>
          <a:xfrm>
            <a:off x="731519" y="822960"/>
            <a:ext cx="10343918" cy="320040"/>
          </a:xfrm>
          <a:prstGeom prst="rect">
            <a:avLst/>
          </a:prstGeom>
          <a:noFill/>
          <a:ln/>
        </p:spPr>
        <p:txBody>
          <a:bodyPr wrap="square" rtlCol="0" anchor="ctr"/>
          <a:lstStyle/>
          <a:p>
            <a:pPr lvl="0"/>
            <a:r>
              <a:rPr lang="en-US" b="1" dirty="0"/>
              <a:t>What proportion of requests are completed vs unmet, and what is the dominant failure mode? </a:t>
            </a:r>
            <a:endParaRPr lang="en-GH" b="1" dirty="0"/>
          </a:p>
        </p:txBody>
      </p:sp>
      <p:sp>
        <p:nvSpPr>
          <p:cNvPr id="5" name="Text 3"/>
          <p:cNvSpPr/>
          <p:nvPr/>
        </p:nvSpPr>
        <p:spPr>
          <a:xfrm>
            <a:off x="731520" y="1188720"/>
            <a:ext cx="5760720" cy="274320"/>
          </a:xfrm>
          <a:prstGeom prst="rect">
            <a:avLst/>
          </a:prstGeom>
          <a:noFill/>
          <a:ln/>
        </p:spPr>
        <p:txBody>
          <a:bodyPr wrap="square" rtlCol="0" anchor="ctr"/>
          <a:lstStyle/>
          <a:p>
            <a:pPr marL="0" indent="0">
              <a:buNone/>
            </a:pPr>
            <a:r>
              <a:rPr lang="en-US" sz="1200" dirty="0">
                <a:solidFill>
                  <a:srgbClr val="374151"/>
                </a:solidFill>
                <a:latin typeface="Aptos" pitchFamily="34" charset="0"/>
                <a:ea typeface="Aptos" pitchFamily="34" charset="-122"/>
                <a:cs typeface="Aptos" pitchFamily="34" charset="-120"/>
              </a:rPr>
              <a:t>Status distribution (counts)</a:t>
            </a:r>
            <a:endParaRPr lang="en-US" sz="1200" dirty="0"/>
          </a:p>
        </p:txBody>
      </p:sp>
      <p:sp>
        <p:nvSpPr>
          <p:cNvPr id="7" name="Shape 4"/>
          <p:cNvSpPr/>
          <p:nvPr/>
        </p:nvSpPr>
        <p:spPr>
          <a:xfrm>
            <a:off x="6766560" y="1143000"/>
            <a:ext cx="4709160" cy="2103120"/>
          </a:xfrm>
          <a:prstGeom prst="roundRect">
            <a:avLst/>
          </a:prstGeom>
          <a:solidFill>
            <a:srgbClr val="FFFFFF"/>
          </a:solidFill>
          <a:ln w="12700">
            <a:solidFill>
              <a:srgbClr val="E5E7EB"/>
            </a:solidFill>
            <a:prstDash val="solid"/>
          </a:ln>
        </p:spPr>
        <p:txBody>
          <a:bodyPr/>
          <a:lstStyle/>
          <a:p>
            <a:endParaRPr lang="en-GH"/>
          </a:p>
        </p:txBody>
      </p:sp>
      <p:sp>
        <p:nvSpPr>
          <p:cNvPr id="8" name="Shape 5"/>
          <p:cNvSpPr/>
          <p:nvPr/>
        </p:nvSpPr>
        <p:spPr>
          <a:xfrm>
            <a:off x="6766560" y="1143000"/>
            <a:ext cx="109728" cy="2103120"/>
          </a:xfrm>
          <a:prstGeom prst="rect">
            <a:avLst/>
          </a:prstGeom>
          <a:solidFill>
            <a:srgbClr val="00B14F"/>
          </a:solidFill>
          <a:ln w="12700">
            <a:solidFill>
              <a:srgbClr val="00B14F"/>
            </a:solidFill>
            <a:prstDash val="solid"/>
          </a:ln>
        </p:spPr>
        <p:txBody>
          <a:bodyPr/>
          <a:lstStyle/>
          <a:p>
            <a:endParaRPr lang="en-GH"/>
          </a:p>
        </p:txBody>
      </p:sp>
      <p:sp>
        <p:nvSpPr>
          <p:cNvPr id="9" name="Text 6"/>
          <p:cNvSpPr/>
          <p:nvPr/>
        </p:nvSpPr>
        <p:spPr>
          <a:xfrm>
            <a:off x="6949440" y="1280160"/>
            <a:ext cx="4434840"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Key numbers</a:t>
            </a:r>
            <a:endParaRPr lang="en-US" sz="1300" dirty="0"/>
          </a:p>
        </p:txBody>
      </p:sp>
      <p:sp>
        <p:nvSpPr>
          <p:cNvPr id="10" name="Text 7"/>
          <p:cNvSpPr/>
          <p:nvPr/>
        </p:nvSpPr>
        <p:spPr>
          <a:xfrm>
            <a:off x="6949440" y="1618488"/>
            <a:ext cx="4434840" cy="1508760"/>
          </a:xfrm>
          <a:prstGeom prst="rect">
            <a:avLst/>
          </a:prstGeom>
          <a:noFill/>
          <a:ln/>
        </p:spPr>
        <p:txBody>
          <a:bodyPr wrap="square" rtlCol="0" anchor="t"/>
          <a:lstStyle/>
          <a:p>
            <a:pPr marL="0" indent="0" algn="ctr">
              <a:buNone/>
            </a:pPr>
            <a:r>
              <a:rPr lang="en-US" sz="2000" dirty="0">
                <a:latin typeface="Aptos" pitchFamily="34" charset="0"/>
                <a:ea typeface="Aptos" pitchFamily="34" charset="-122"/>
                <a:cs typeface="Aptos" pitchFamily="34" charset="-120"/>
              </a:rPr>
              <a:t>Completed: 2,831 (41.97%)</a:t>
            </a:r>
            <a:endParaRPr lang="en-US" sz="2000" dirty="0"/>
          </a:p>
          <a:p>
            <a:pPr marL="0" indent="0" algn="ctr">
              <a:buNone/>
            </a:pPr>
            <a:r>
              <a:rPr lang="en-US" sz="2000" dirty="0">
                <a:latin typeface="Aptos" pitchFamily="34" charset="0"/>
                <a:ea typeface="Aptos" pitchFamily="34" charset="-122"/>
                <a:cs typeface="Aptos" pitchFamily="34" charset="-120"/>
              </a:rPr>
              <a:t>Cancelled: 1,264 (18.74%)</a:t>
            </a:r>
            <a:endParaRPr lang="en-US" sz="2000" dirty="0"/>
          </a:p>
          <a:p>
            <a:pPr marL="0" indent="0" algn="ctr">
              <a:buNone/>
            </a:pPr>
            <a:r>
              <a:rPr lang="en-US" sz="2000" dirty="0">
                <a:latin typeface="Aptos" pitchFamily="34" charset="0"/>
                <a:ea typeface="Aptos" pitchFamily="34" charset="-122"/>
                <a:cs typeface="Aptos" pitchFamily="34" charset="-120"/>
              </a:rPr>
              <a:t>No cars: 2,650 (39.29%)</a:t>
            </a:r>
            <a:endParaRPr lang="en-US" sz="2000" dirty="0"/>
          </a:p>
        </p:txBody>
      </p:sp>
      <p:sp>
        <p:nvSpPr>
          <p:cNvPr id="11" name="Shape 8"/>
          <p:cNvSpPr/>
          <p:nvPr/>
        </p:nvSpPr>
        <p:spPr>
          <a:xfrm>
            <a:off x="6766560" y="3429000"/>
            <a:ext cx="4709160" cy="2560320"/>
          </a:xfrm>
          <a:prstGeom prst="roundRect">
            <a:avLst/>
          </a:prstGeom>
          <a:solidFill>
            <a:srgbClr val="FFFFFF"/>
          </a:solidFill>
          <a:ln w="12700">
            <a:solidFill>
              <a:srgbClr val="E5E7EB"/>
            </a:solidFill>
            <a:prstDash val="solid"/>
          </a:ln>
        </p:spPr>
        <p:txBody>
          <a:bodyPr/>
          <a:lstStyle/>
          <a:p>
            <a:endParaRPr lang="en-GH"/>
          </a:p>
        </p:txBody>
      </p:sp>
      <p:sp>
        <p:nvSpPr>
          <p:cNvPr id="12" name="Shape 9"/>
          <p:cNvSpPr/>
          <p:nvPr/>
        </p:nvSpPr>
        <p:spPr>
          <a:xfrm>
            <a:off x="6766560" y="3429000"/>
            <a:ext cx="109728" cy="2560320"/>
          </a:xfrm>
          <a:prstGeom prst="rect">
            <a:avLst/>
          </a:prstGeom>
          <a:solidFill>
            <a:srgbClr val="F59E0B"/>
          </a:solidFill>
          <a:ln w="12700">
            <a:solidFill>
              <a:srgbClr val="F59E0B"/>
            </a:solidFill>
            <a:prstDash val="solid"/>
          </a:ln>
        </p:spPr>
        <p:txBody>
          <a:bodyPr/>
          <a:lstStyle/>
          <a:p>
            <a:endParaRPr lang="en-GH"/>
          </a:p>
        </p:txBody>
      </p:sp>
      <p:sp>
        <p:nvSpPr>
          <p:cNvPr id="13" name="Text 10"/>
          <p:cNvSpPr/>
          <p:nvPr/>
        </p:nvSpPr>
        <p:spPr>
          <a:xfrm>
            <a:off x="6949440" y="3566160"/>
            <a:ext cx="4434840"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Interpretation</a:t>
            </a:r>
            <a:endParaRPr lang="en-US" sz="1300" dirty="0"/>
          </a:p>
        </p:txBody>
      </p:sp>
      <p:sp>
        <p:nvSpPr>
          <p:cNvPr id="14" name="Text 11"/>
          <p:cNvSpPr/>
          <p:nvPr/>
        </p:nvSpPr>
        <p:spPr>
          <a:xfrm>
            <a:off x="6949440" y="3904488"/>
            <a:ext cx="4434840" cy="1965960"/>
          </a:xfrm>
          <a:prstGeom prst="rect">
            <a:avLst/>
          </a:prstGeom>
          <a:noFill/>
          <a:ln/>
        </p:spPr>
        <p:txBody>
          <a:bodyPr wrap="square" rtlCol="0" anchor="t"/>
          <a:lstStyle/>
          <a:p>
            <a:pPr marL="0" indent="0">
              <a:buNone/>
            </a:pPr>
            <a:r>
              <a:rPr lang="en-US" sz="1600" dirty="0">
                <a:latin typeface="Aptos" pitchFamily="34" charset="0"/>
                <a:ea typeface="Aptos" pitchFamily="34" charset="-122"/>
                <a:cs typeface="Aptos" pitchFamily="34" charset="-120"/>
              </a:rPr>
              <a:t>Unmet demand is large and splits into:</a:t>
            </a:r>
            <a:endParaRPr lang="en-US" sz="1600" dirty="0"/>
          </a:p>
          <a:p>
            <a:pPr marL="0" indent="0">
              <a:buNone/>
            </a:pPr>
            <a:r>
              <a:rPr lang="en-US" sz="1600" dirty="0">
                <a:latin typeface="Aptos" pitchFamily="34" charset="0"/>
                <a:ea typeface="Aptos" pitchFamily="34" charset="-122"/>
                <a:cs typeface="Aptos" pitchFamily="34" charset="-120"/>
              </a:rPr>
              <a:t>• “No Cars Available” → supply shortage</a:t>
            </a:r>
            <a:endParaRPr lang="en-US" sz="1600" dirty="0"/>
          </a:p>
          <a:p>
            <a:pPr marL="0" indent="0">
              <a:buNone/>
            </a:pPr>
            <a:r>
              <a:rPr lang="en-US" sz="1600" dirty="0">
                <a:latin typeface="Aptos" pitchFamily="34" charset="0"/>
                <a:ea typeface="Aptos" pitchFamily="34" charset="-122"/>
                <a:cs typeface="Aptos" pitchFamily="34" charset="-120"/>
              </a:rPr>
              <a:t>• “Cancelled” → behavior / wait-time / matching issues</a:t>
            </a:r>
          </a:p>
          <a:p>
            <a:pPr marL="0" indent="0">
              <a:buNone/>
            </a:pPr>
            <a:endParaRPr lang="en-US" sz="1600" dirty="0"/>
          </a:p>
          <a:p>
            <a:pPr marL="0" indent="0">
              <a:buNone/>
            </a:pPr>
            <a:r>
              <a:rPr lang="en-US" sz="1600" dirty="0">
                <a:latin typeface="Aptos" pitchFamily="34" charset="0"/>
                <a:ea typeface="Aptos" pitchFamily="34" charset="-122"/>
                <a:cs typeface="Aptos" pitchFamily="34" charset="-120"/>
              </a:rPr>
              <a:t>Next: locate when &amp; where unmet demand concentrates.</a:t>
            </a:r>
            <a:endParaRPr lang="en-US" sz="1600" dirty="0"/>
          </a:p>
        </p:txBody>
      </p:sp>
      <p:sp>
        <p:nvSpPr>
          <p:cNvPr id="15" name="Text 12"/>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Q1 output establishes baseline service reliability and failure modes</a:t>
            </a:r>
            <a:endParaRPr lang="en-US" sz="1000" dirty="0"/>
          </a:p>
        </p:txBody>
      </p:sp>
      <p:pic>
        <p:nvPicPr>
          <p:cNvPr id="16" name="Picture 15">
            <a:extLst>
              <a:ext uri="{FF2B5EF4-FFF2-40B4-BE49-F238E27FC236}">
                <a16:creationId xmlns:a16="http://schemas.microsoft.com/office/drawing/2014/main" id="{D5493489-C973-D60E-BACD-483CEDA75B78}"/>
              </a:ext>
            </a:extLst>
          </p:cNvPr>
          <p:cNvPicPr>
            <a:picLocks noChangeAspect="1"/>
          </p:cNvPicPr>
          <p:nvPr/>
        </p:nvPicPr>
        <p:blipFill>
          <a:blip r:embed="rId3"/>
          <a:stretch>
            <a:fillRect/>
          </a:stretch>
        </p:blipFill>
        <p:spPr>
          <a:xfrm>
            <a:off x="548952" y="1229869"/>
            <a:ext cx="5760719" cy="43205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When is the demand–supply gap highest?</a:t>
            </a:r>
            <a:endParaRPr lang="en-US" sz="2000" dirty="0"/>
          </a:p>
        </p:txBody>
      </p:sp>
      <p:sp>
        <p:nvSpPr>
          <p:cNvPr id="4" name="Text 2"/>
          <p:cNvSpPr/>
          <p:nvPr/>
        </p:nvSpPr>
        <p:spPr>
          <a:xfrm>
            <a:off x="731520" y="822960"/>
            <a:ext cx="10728655" cy="320040"/>
          </a:xfrm>
          <a:prstGeom prst="rect">
            <a:avLst/>
          </a:prstGeom>
          <a:noFill/>
          <a:ln/>
        </p:spPr>
        <p:txBody>
          <a:bodyPr wrap="square" rtlCol="0" anchor="ctr"/>
          <a:lstStyle/>
          <a:p>
            <a:pPr lvl="0"/>
            <a:r>
              <a:rPr lang="en-US" b="1" dirty="0"/>
              <a:t>At which hours is the demand, supply gap (Requests − Completed) maximal? </a:t>
            </a:r>
            <a:endParaRPr lang="en-GH" b="1" dirty="0"/>
          </a:p>
        </p:txBody>
      </p:sp>
      <p:sp>
        <p:nvSpPr>
          <p:cNvPr id="6" name="Shape 3"/>
          <p:cNvSpPr/>
          <p:nvPr/>
        </p:nvSpPr>
        <p:spPr>
          <a:xfrm>
            <a:off x="8458200" y="1234440"/>
            <a:ext cx="3639312" cy="2148840"/>
          </a:xfrm>
          <a:prstGeom prst="roundRect">
            <a:avLst/>
          </a:prstGeom>
          <a:solidFill>
            <a:srgbClr val="FFFFFF"/>
          </a:solidFill>
          <a:ln w="12700">
            <a:solidFill>
              <a:srgbClr val="E5E7EB"/>
            </a:solidFill>
            <a:prstDash val="solid"/>
          </a:ln>
        </p:spPr>
        <p:txBody>
          <a:bodyPr/>
          <a:lstStyle/>
          <a:p>
            <a:endParaRPr lang="en-GH"/>
          </a:p>
        </p:txBody>
      </p:sp>
      <p:sp>
        <p:nvSpPr>
          <p:cNvPr id="7" name="Shape 4"/>
          <p:cNvSpPr/>
          <p:nvPr/>
        </p:nvSpPr>
        <p:spPr>
          <a:xfrm>
            <a:off x="8458200" y="1234440"/>
            <a:ext cx="109728" cy="2148840"/>
          </a:xfrm>
          <a:prstGeom prst="rect">
            <a:avLst/>
          </a:prstGeom>
          <a:solidFill>
            <a:srgbClr val="DC2626"/>
          </a:solidFill>
          <a:ln w="12700">
            <a:solidFill>
              <a:srgbClr val="DC2626"/>
            </a:solidFill>
            <a:prstDash val="solid"/>
          </a:ln>
        </p:spPr>
        <p:txBody>
          <a:bodyPr/>
          <a:lstStyle/>
          <a:p>
            <a:endParaRPr lang="en-GH"/>
          </a:p>
        </p:txBody>
      </p:sp>
      <p:sp>
        <p:nvSpPr>
          <p:cNvPr id="8" name="Text 5"/>
          <p:cNvSpPr/>
          <p:nvPr/>
        </p:nvSpPr>
        <p:spPr>
          <a:xfrm>
            <a:off x="8641080" y="1371600"/>
            <a:ext cx="3364992"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Peak gap</a:t>
            </a:r>
            <a:endParaRPr lang="en-US" sz="1300" dirty="0"/>
          </a:p>
        </p:txBody>
      </p:sp>
      <p:sp>
        <p:nvSpPr>
          <p:cNvPr id="9" name="Text 6"/>
          <p:cNvSpPr/>
          <p:nvPr/>
        </p:nvSpPr>
        <p:spPr>
          <a:xfrm>
            <a:off x="8641080" y="1709928"/>
            <a:ext cx="3364992" cy="1554480"/>
          </a:xfrm>
          <a:prstGeom prst="rect">
            <a:avLst/>
          </a:prstGeom>
          <a:noFill/>
          <a:ln/>
        </p:spPr>
        <p:txBody>
          <a:bodyPr wrap="square" rtlCol="0" anchor="t"/>
          <a:lstStyle/>
          <a:p>
            <a:pPr marL="0" indent="0">
              <a:buNone/>
            </a:pPr>
            <a:r>
              <a:rPr lang="en-US" dirty="0">
                <a:latin typeface="Aptos" pitchFamily="34" charset="0"/>
                <a:ea typeface="Aptos" pitchFamily="34" charset="-122"/>
                <a:cs typeface="Aptos" pitchFamily="34" charset="-120"/>
              </a:rPr>
              <a:t>Hour: 18:00</a:t>
            </a:r>
            <a:endParaRPr lang="en-US" dirty="0"/>
          </a:p>
          <a:p>
            <a:pPr marL="0" indent="0">
              <a:buNone/>
            </a:pPr>
            <a:r>
              <a:rPr lang="en-US" dirty="0">
                <a:latin typeface="Aptos" pitchFamily="34" charset="0"/>
                <a:ea typeface="Aptos" pitchFamily="34" charset="-122"/>
                <a:cs typeface="Aptos" pitchFamily="34" charset="-120"/>
              </a:rPr>
              <a:t>Gap: 346 requests</a:t>
            </a:r>
            <a:endParaRPr lang="en-US" dirty="0"/>
          </a:p>
          <a:p>
            <a:pPr marL="0" indent="0">
              <a:buNone/>
            </a:pPr>
            <a:r>
              <a:rPr lang="en-US" dirty="0">
                <a:latin typeface="Aptos" pitchFamily="34" charset="0"/>
                <a:ea typeface="Aptos" pitchFamily="34" charset="-122"/>
                <a:cs typeface="Aptos" pitchFamily="34" charset="-120"/>
              </a:rPr>
              <a:t>Evening hours (18–21) dominate the gap.</a:t>
            </a:r>
            <a:endParaRPr lang="en-US" dirty="0"/>
          </a:p>
        </p:txBody>
      </p:sp>
      <p:sp>
        <p:nvSpPr>
          <p:cNvPr id="10" name="Shape 7"/>
          <p:cNvSpPr/>
          <p:nvPr/>
        </p:nvSpPr>
        <p:spPr>
          <a:xfrm>
            <a:off x="8366760" y="3474720"/>
            <a:ext cx="3639312" cy="2514600"/>
          </a:xfrm>
          <a:prstGeom prst="roundRect">
            <a:avLst/>
          </a:prstGeom>
          <a:solidFill>
            <a:srgbClr val="FFFFFF"/>
          </a:solidFill>
          <a:ln w="12700">
            <a:solidFill>
              <a:srgbClr val="E5E7EB"/>
            </a:solidFill>
            <a:prstDash val="solid"/>
          </a:ln>
        </p:spPr>
        <p:txBody>
          <a:bodyPr/>
          <a:lstStyle/>
          <a:p>
            <a:endParaRPr lang="en-GH"/>
          </a:p>
        </p:txBody>
      </p:sp>
      <p:sp>
        <p:nvSpPr>
          <p:cNvPr id="11" name="Shape 8"/>
          <p:cNvSpPr/>
          <p:nvPr/>
        </p:nvSpPr>
        <p:spPr>
          <a:xfrm>
            <a:off x="8458200" y="3520440"/>
            <a:ext cx="109728" cy="2514600"/>
          </a:xfrm>
          <a:prstGeom prst="rect">
            <a:avLst/>
          </a:prstGeom>
          <a:solidFill>
            <a:srgbClr val="F59E0B"/>
          </a:solidFill>
          <a:ln w="12700">
            <a:solidFill>
              <a:srgbClr val="F59E0B"/>
            </a:solidFill>
            <a:prstDash val="solid"/>
          </a:ln>
        </p:spPr>
        <p:txBody>
          <a:bodyPr/>
          <a:lstStyle/>
          <a:p>
            <a:endParaRPr lang="en-GH"/>
          </a:p>
        </p:txBody>
      </p:sp>
      <p:sp>
        <p:nvSpPr>
          <p:cNvPr id="12" name="Text 9"/>
          <p:cNvSpPr/>
          <p:nvPr/>
        </p:nvSpPr>
        <p:spPr>
          <a:xfrm>
            <a:off x="8641080" y="3657600"/>
            <a:ext cx="3364992"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Top gap hours (gap)</a:t>
            </a:r>
            <a:endParaRPr lang="en-US" sz="1300" dirty="0"/>
          </a:p>
        </p:txBody>
      </p:sp>
      <p:sp>
        <p:nvSpPr>
          <p:cNvPr id="13" name="Text 10"/>
          <p:cNvSpPr/>
          <p:nvPr/>
        </p:nvSpPr>
        <p:spPr>
          <a:xfrm>
            <a:off x="8641080" y="3995928"/>
            <a:ext cx="3364992" cy="1920240"/>
          </a:xfrm>
          <a:prstGeom prst="rect">
            <a:avLst/>
          </a:prstGeom>
          <a:noFill/>
          <a:ln/>
        </p:spPr>
        <p:txBody>
          <a:bodyPr wrap="square" rtlCol="0" anchor="t"/>
          <a:lstStyle/>
          <a:p>
            <a:pPr marL="0" indent="0" algn="ctr">
              <a:buNone/>
            </a:pPr>
            <a:r>
              <a:rPr lang="en-US" dirty="0">
                <a:latin typeface="Aptos" pitchFamily="34" charset="0"/>
                <a:ea typeface="Aptos" pitchFamily="34" charset="-122"/>
                <a:cs typeface="Aptos" pitchFamily="34" charset="-120"/>
              </a:rPr>
              <a:t>18:00 → 346</a:t>
            </a:r>
            <a:endParaRPr lang="en-US" dirty="0"/>
          </a:p>
          <a:p>
            <a:pPr marL="0" indent="0" algn="ctr">
              <a:buNone/>
            </a:pPr>
            <a:r>
              <a:rPr lang="en-US" dirty="0">
                <a:latin typeface="Aptos" pitchFamily="34" charset="0"/>
                <a:ea typeface="Aptos" pitchFamily="34" charset="-122"/>
                <a:cs typeface="Aptos" pitchFamily="34" charset="-120"/>
              </a:rPr>
              <a:t>20:00 → 331</a:t>
            </a:r>
            <a:endParaRPr lang="en-US" dirty="0"/>
          </a:p>
          <a:p>
            <a:pPr marL="0" indent="0" algn="ctr">
              <a:buNone/>
            </a:pPr>
            <a:r>
              <a:rPr lang="en-US" dirty="0">
                <a:latin typeface="Aptos" pitchFamily="34" charset="0"/>
                <a:ea typeface="Aptos" pitchFamily="34" charset="-122"/>
                <a:cs typeface="Aptos" pitchFamily="34" charset="-120"/>
              </a:rPr>
              <a:t>21:00 → 307</a:t>
            </a:r>
            <a:endParaRPr lang="en-US" dirty="0"/>
          </a:p>
          <a:p>
            <a:pPr marL="0" indent="0" algn="ctr">
              <a:buNone/>
            </a:pPr>
            <a:r>
              <a:rPr lang="en-US" dirty="0">
                <a:latin typeface="Aptos" pitchFamily="34" charset="0"/>
                <a:ea typeface="Aptos" pitchFamily="34" charset="-122"/>
                <a:cs typeface="Aptos" pitchFamily="34" charset="-120"/>
              </a:rPr>
              <a:t>19:00 → 307</a:t>
            </a:r>
            <a:endParaRPr lang="en-US" dirty="0"/>
          </a:p>
          <a:p>
            <a:pPr marL="0" indent="0" algn="ctr">
              <a:buNone/>
            </a:pPr>
            <a:r>
              <a:rPr lang="en-US" dirty="0">
                <a:latin typeface="Aptos" pitchFamily="34" charset="0"/>
                <a:ea typeface="Aptos" pitchFamily="34" charset="-122"/>
                <a:cs typeface="Aptos" pitchFamily="34" charset="-120"/>
              </a:rPr>
              <a:t>8:00 → 268</a:t>
            </a:r>
            <a:endParaRPr lang="en-US" dirty="0"/>
          </a:p>
        </p:txBody>
      </p:sp>
      <p:sp>
        <p:nvSpPr>
          <p:cNvPr id="14" name="Text 11"/>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Q2 identifies the highest-impact time windows for driver incentives/scheduling</a:t>
            </a:r>
            <a:endParaRPr lang="en-US" sz="1000" dirty="0"/>
          </a:p>
        </p:txBody>
      </p:sp>
      <p:pic>
        <p:nvPicPr>
          <p:cNvPr id="15" name="Picture 14">
            <a:extLst>
              <a:ext uri="{FF2B5EF4-FFF2-40B4-BE49-F238E27FC236}">
                <a16:creationId xmlns:a16="http://schemas.microsoft.com/office/drawing/2014/main" id="{66590FA4-4662-6BB1-8077-2912CE5AF1F4}"/>
              </a:ext>
            </a:extLst>
          </p:cNvPr>
          <p:cNvPicPr>
            <a:picLocks noChangeAspect="1"/>
          </p:cNvPicPr>
          <p:nvPr/>
        </p:nvPicPr>
        <p:blipFill>
          <a:blip r:embed="rId3"/>
          <a:stretch>
            <a:fillRect/>
          </a:stretch>
        </p:blipFill>
        <p:spPr>
          <a:xfrm>
            <a:off x="634483" y="1371600"/>
            <a:ext cx="6969966" cy="5227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City vs Airport: different failure modes</a:t>
            </a:r>
            <a:endParaRPr lang="en-US" sz="2000" dirty="0"/>
          </a:p>
        </p:txBody>
      </p:sp>
      <p:sp>
        <p:nvSpPr>
          <p:cNvPr id="4" name="Text 2"/>
          <p:cNvSpPr/>
          <p:nvPr/>
        </p:nvSpPr>
        <p:spPr>
          <a:xfrm>
            <a:off x="731520" y="822960"/>
            <a:ext cx="10728655" cy="320040"/>
          </a:xfrm>
          <a:prstGeom prst="rect">
            <a:avLst/>
          </a:prstGeom>
          <a:noFill/>
          <a:ln/>
        </p:spPr>
        <p:txBody>
          <a:bodyPr wrap="square" rtlCol="0" anchor="ctr"/>
          <a:lstStyle/>
          <a:p>
            <a:pPr lvl="0"/>
            <a:r>
              <a:rPr lang="en-US" b="1" dirty="0"/>
              <a:t>Do outcome rates differ by pickup point (City vs Airport)?</a:t>
            </a:r>
            <a:endParaRPr lang="en-GH" b="1" dirty="0"/>
          </a:p>
        </p:txBody>
      </p:sp>
      <p:sp>
        <p:nvSpPr>
          <p:cNvPr id="5" name="Text 3"/>
          <p:cNvSpPr/>
          <p:nvPr/>
        </p:nvSpPr>
        <p:spPr>
          <a:xfrm>
            <a:off x="731520" y="1188720"/>
            <a:ext cx="5760720" cy="274320"/>
          </a:xfrm>
          <a:prstGeom prst="rect">
            <a:avLst/>
          </a:prstGeom>
          <a:noFill/>
          <a:ln/>
        </p:spPr>
        <p:txBody>
          <a:bodyPr wrap="square" rtlCol="0" anchor="ctr"/>
          <a:lstStyle/>
          <a:p>
            <a:pPr marL="0" indent="0">
              <a:buNone/>
            </a:pPr>
            <a:r>
              <a:rPr lang="en-US" sz="1200" dirty="0">
                <a:solidFill>
                  <a:srgbClr val="374151"/>
                </a:solidFill>
                <a:latin typeface="Aptos" pitchFamily="34" charset="0"/>
                <a:ea typeface="Aptos" pitchFamily="34" charset="-122"/>
                <a:cs typeface="Aptos" pitchFamily="34" charset="-120"/>
              </a:rPr>
              <a:t>Rates (% of requests) — focus on failure modes</a:t>
            </a:r>
            <a:endParaRPr lang="en-US" sz="1200" dirty="0"/>
          </a:p>
        </p:txBody>
      </p:sp>
      <p:sp>
        <p:nvSpPr>
          <p:cNvPr id="7" name="Shape 4"/>
          <p:cNvSpPr/>
          <p:nvPr/>
        </p:nvSpPr>
        <p:spPr>
          <a:xfrm>
            <a:off x="8001000" y="1325880"/>
            <a:ext cx="4187952" cy="2194560"/>
          </a:xfrm>
          <a:prstGeom prst="roundRect">
            <a:avLst/>
          </a:prstGeom>
          <a:solidFill>
            <a:srgbClr val="FFFFFF"/>
          </a:solidFill>
          <a:ln w="12700">
            <a:solidFill>
              <a:srgbClr val="E5E7EB"/>
            </a:solidFill>
            <a:prstDash val="solid"/>
          </a:ln>
        </p:spPr>
        <p:txBody>
          <a:bodyPr/>
          <a:lstStyle/>
          <a:p>
            <a:endParaRPr lang="en-GH"/>
          </a:p>
        </p:txBody>
      </p:sp>
      <p:sp>
        <p:nvSpPr>
          <p:cNvPr id="8" name="Shape 5"/>
          <p:cNvSpPr/>
          <p:nvPr/>
        </p:nvSpPr>
        <p:spPr>
          <a:xfrm>
            <a:off x="8001000" y="1325880"/>
            <a:ext cx="109728" cy="2194560"/>
          </a:xfrm>
          <a:prstGeom prst="rect">
            <a:avLst/>
          </a:prstGeom>
          <a:solidFill>
            <a:srgbClr val="DC2626"/>
          </a:solidFill>
          <a:ln w="12700">
            <a:solidFill>
              <a:srgbClr val="DC2626"/>
            </a:solidFill>
            <a:prstDash val="solid"/>
          </a:ln>
        </p:spPr>
        <p:txBody>
          <a:bodyPr/>
          <a:lstStyle/>
          <a:p>
            <a:endParaRPr lang="en-GH"/>
          </a:p>
        </p:txBody>
      </p:sp>
      <p:sp>
        <p:nvSpPr>
          <p:cNvPr id="9" name="Text 6"/>
          <p:cNvSpPr/>
          <p:nvPr/>
        </p:nvSpPr>
        <p:spPr>
          <a:xfrm>
            <a:off x="8183880" y="1463040"/>
            <a:ext cx="3913632"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Airport</a:t>
            </a:r>
            <a:endParaRPr lang="en-US" sz="1300" dirty="0"/>
          </a:p>
        </p:txBody>
      </p:sp>
      <p:sp>
        <p:nvSpPr>
          <p:cNvPr id="10" name="Text 7"/>
          <p:cNvSpPr/>
          <p:nvPr/>
        </p:nvSpPr>
        <p:spPr>
          <a:xfrm>
            <a:off x="8183880" y="1801368"/>
            <a:ext cx="3913632" cy="1600200"/>
          </a:xfrm>
          <a:prstGeom prst="rect">
            <a:avLst/>
          </a:prstGeom>
          <a:noFill/>
          <a:ln/>
        </p:spPr>
        <p:txBody>
          <a:bodyPr wrap="square" rtlCol="0" anchor="t"/>
          <a:lstStyle/>
          <a:p>
            <a:pPr marL="0" indent="0">
              <a:buNone/>
            </a:pPr>
            <a:r>
              <a:rPr lang="en-US" sz="1600" dirty="0">
                <a:latin typeface="Aptos" pitchFamily="34" charset="0"/>
                <a:ea typeface="Aptos" pitchFamily="34" charset="-122"/>
                <a:cs typeface="Aptos" pitchFamily="34" charset="-120"/>
              </a:rPr>
              <a:t>No Cars: 52.90% (dominant)</a:t>
            </a:r>
            <a:endParaRPr lang="en-US" sz="1600" dirty="0"/>
          </a:p>
          <a:p>
            <a:pPr marL="0" indent="0">
              <a:buNone/>
            </a:pPr>
            <a:r>
              <a:rPr lang="en-US" sz="1600" dirty="0">
                <a:latin typeface="Aptos" pitchFamily="34" charset="0"/>
                <a:ea typeface="Aptos" pitchFamily="34" charset="-122"/>
                <a:cs typeface="Aptos" pitchFamily="34" charset="-120"/>
              </a:rPr>
              <a:t>Cancelled: 6.11%</a:t>
            </a:r>
            <a:endParaRPr lang="en-US" sz="1600" dirty="0"/>
          </a:p>
          <a:p>
            <a:pPr marL="0" indent="0">
              <a:buNone/>
            </a:pPr>
            <a:r>
              <a:rPr lang="en-US" sz="1600" dirty="0">
                <a:latin typeface="Aptos" pitchFamily="34" charset="0"/>
                <a:ea typeface="Aptos" pitchFamily="34" charset="-122"/>
                <a:cs typeface="Aptos" pitchFamily="34" charset="-120"/>
              </a:rPr>
              <a:t>Completion: 40.98%</a:t>
            </a:r>
            <a:endParaRPr lang="en-US" sz="1600" dirty="0"/>
          </a:p>
          <a:p>
            <a:pPr marL="0" indent="0">
              <a:buNone/>
            </a:pPr>
            <a:r>
              <a:rPr lang="en-US" sz="1600" dirty="0">
                <a:latin typeface="Aptos" pitchFamily="34" charset="0"/>
                <a:ea typeface="Aptos" pitchFamily="34" charset="-122"/>
                <a:cs typeface="Aptos" pitchFamily="34" charset="-120"/>
              </a:rPr>
              <a:t>→ Suggests supply shortage at airport.</a:t>
            </a:r>
            <a:endParaRPr lang="en-US" sz="1600" dirty="0"/>
          </a:p>
        </p:txBody>
      </p:sp>
      <p:sp>
        <p:nvSpPr>
          <p:cNvPr id="11" name="Shape 8"/>
          <p:cNvSpPr/>
          <p:nvPr/>
        </p:nvSpPr>
        <p:spPr>
          <a:xfrm>
            <a:off x="8001000" y="3703320"/>
            <a:ext cx="4187952" cy="2331720"/>
          </a:xfrm>
          <a:prstGeom prst="roundRect">
            <a:avLst/>
          </a:prstGeom>
          <a:solidFill>
            <a:srgbClr val="FFFFFF"/>
          </a:solidFill>
          <a:ln w="12700">
            <a:solidFill>
              <a:srgbClr val="E5E7EB"/>
            </a:solidFill>
            <a:prstDash val="solid"/>
          </a:ln>
        </p:spPr>
        <p:txBody>
          <a:bodyPr/>
          <a:lstStyle/>
          <a:p>
            <a:endParaRPr lang="en-GH"/>
          </a:p>
        </p:txBody>
      </p:sp>
      <p:sp>
        <p:nvSpPr>
          <p:cNvPr id="12" name="Shape 9"/>
          <p:cNvSpPr/>
          <p:nvPr/>
        </p:nvSpPr>
        <p:spPr>
          <a:xfrm>
            <a:off x="8001000" y="3703320"/>
            <a:ext cx="109728" cy="2331720"/>
          </a:xfrm>
          <a:prstGeom prst="rect">
            <a:avLst/>
          </a:prstGeom>
          <a:solidFill>
            <a:srgbClr val="F59E0B"/>
          </a:solidFill>
          <a:ln w="12700">
            <a:solidFill>
              <a:srgbClr val="F59E0B"/>
            </a:solidFill>
            <a:prstDash val="solid"/>
          </a:ln>
        </p:spPr>
        <p:txBody>
          <a:bodyPr/>
          <a:lstStyle/>
          <a:p>
            <a:endParaRPr lang="en-GH"/>
          </a:p>
        </p:txBody>
      </p:sp>
      <p:sp>
        <p:nvSpPr>
          <p:cNvPr id="13" name="Text 10"/>
          <p:cNvSpPr/>
          <p:nvPr/>
        </p:nvSpPr>
        <p:spPr>
          <a:xfrm>
            <a:off x="8183880" y="3840480"/>
            <a:ext cx="3913632"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City</a:t>
            </a:r>
            <a:endParaRPr lang="en-US" sz="1300" dirty="0"/>
          </a:p>
        </p:txBody>
      </p:sp>
      <p:sp>
        <p:nvSpPr>
          <p:cNvPr id="14" name="Text 11"/>
          <p:cNvSpPr/>
          <p:nvPr/>
        </p:nvSpPr>
        <p:spPr>
          <a:xfrm>
            <a:off x="8183880" y="4178808"/>
            <a:ext cx="3913632" cy="1737360"/>
          </a:xfrm>
          <a:prstGeom prst="rect">
            <a:avLst/>
          </a:prstGeom>
          <a:noFill/>
          <a:ln/>
        </p:spPr>
        <p:txBody>
          <a:bodyPr wrap="square" rtlCol="0" anchor="t"/>
          <a:lstStyle/>
          <a:p>
            <a:pPr marL="0" indent="0">
              <a:buNone/>
            </a:pPr>
            <a:r>
              <a:rPr lang="en-US" sz="1600" dirty="0">
                <a:latin typeface="Aptos" pitchFamily="34" charset="0"/>
                <a:ea typeface="Aptos" pitchFamily="34" charset="-122"/>
                <a:cs typeface="Aptos" pitchFamily="34" charset="-120"/>
              </a:rPr>
              <a:t>Cancelled: 30.40% (dominant)</a:t>
            </a:r>
            <a:endParaRPr lang="en-US" sz="1600" dirty="0"/>
          </a:p>
          <a:p>
            <a:pPr marL="0" indent="0">
              <a:buNone/>
            </a:pPr>
            <a:r>
              <a:rPr lang="en-US" sz="1600" dirty="0">
                <a:latin typeface="Aptos" pitchFamily="34" charset="0"/>
                <a:ea typeface="Aptos" pitchFamily="34" charset="-122"/>
                <a:cs typeface="Aptos" pitchFamily="34" charset="-120"/>
              </a:rPr>
              <a:t>No Cars: 26.72%</a:t>
            </a:r>
            <a:endParaRPr lang="en-US" sz="1600" dirty="0"/>
          </a:p>
          <a:p>
            <a:pPr marL="0" indent="0">
              <a:buNone/>
            </a:pPr>
            <a:r>
              <a:rPr lang="en-US" sz="1600" dirty="0">
                <a:latin typeface="Aptos" pitchFamily="34" charset="0"/>
                <a:ea typeface="Aptos" pitchFamily="34" charset="-122"/>
                <a:cs typeface="Aptos" pitchFamily="34" charset="-120"/>
              </a:rPr>
              <a:t>Completion: 42.89%</a:t>
            </a:r>
            <a:endParaRPr lang="en-US" sz="1600" dirty="0"/>
          </a:p>
          <a:p>
            <a:pPr marL="0" indent="0">
              <a:buNone/>
            </a:pPr>
            <a:r>
              <a:rPr lang="en-US" sz="1600" dirty="0">
                <a:latin typeface="Aptos" pitchFamily="34" charset="0"/>
                <a:ea typeface="Aptos" pitchFamily="34" charset="-122"/>
                <a:cs typeface="Aptos" pitchFamily="34" charset="-120"/>
              </a:rPr>
              <a:t>→ Suggests cancellation/</a:t>
            </a:r>
            <a:r>
              <a:rPr lang="en-US" sz="1600" dirty="0">
                <a:latin typeface="Aptos" pitchFamily="34" charset="0"/>
              </a:rPr>
              <a:t>wait-time</a:t>
            </a:r>
            <a:r>
              <a:rPr lang="en-US" sz="1600" dirty="0">
                <a:latin typeface="Aptos" pitchFamily="34" charset="0"/>
                <a:ea typeface="Aptos" pitchFamily="34" charset="-122"/>
                <a:cs typeface="Aptos" pitchFamily="34" charset="-120"/>
              </a:rPr>
              <a:t> issues.</a:t>
            </a:r>
            <a:endParaRPr lang="en-US" sz="1600" dirty="0"/>
          </a:p>
        </p:txBody>
      </p:sp>
      <p:sp>
        <p:nvSpPr>
          <p:cNvPr id="15" name="Text 12"/>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Q3 shows interventions should differ by pickup point (airport supply vs city cancellation reduction)</a:t>
            </a:r>
            <a:endParaRPr lang="en-US" sz="1000" dirty="0"/>
          </a:p>
        </p:txBody>
      </p:sp>
      <p:pic>
        <p:nvPicPr>
          <p:cNvPr id="16" name="Picture 15">
            <a:extLst>
              <a:ext uri="{FF2B5EF4-FFF2-40B4-BE49-F238E27FC236}">
                <a16:creationId xmlns:a16="http://schemas.microsoft.com/office/drawing/2014/main" id="{1727659A-980E-0989-B2B9-69B7032EF8B6}"/>
              </a:ext>
            </a:extLst>
          </p:cNvPr>
          <p:cNvPicPr>
            <a:picLocks noChangeAspect="1"/>
          </p:cNvPicPr>
          <p:nvPr/>
        </p:nvPicPr>
        <p:blipFill>
          <a:blip r:embed="rId3"/>
          <a:stretch>
            <a:fillRect/>
          </a:stretch>
        </p:blipFill>
        <p:spPr>
          <a:xfrm>
            <a:off x="548640" y="1645920"/>
            <a:ext cx="5839220" cy="43794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Recurring hotspot windows (weekday × hour)</a:t>
            </a:r>
            <a:endParaRPr lang="en-US" sz="2000" dirty="0"/>
          </a:p>
        </p:txBody>
      </p:sp>
      <p:sp>
        <p:nvSpPr>
          <p:cNvPr id="4" name="Text 2"/>
          <p:cNvSpPr/>
          <p:nvPr/>
        </p:nvSpPr>
        <p:spPr>
          <a:xfrm>
            <a:off x="731520" y="822960"/>
            <a:ext cx="7132320" cy="320040"/>
          </a:xfrm>
          <a:prstGeom prst="rect">
            <a:avLst/>
          </a:prstGeom>
          <a:noFill/>
          <a:ln/>
        </p:spPr>
        <p:txBody>
          <a:bodyPr wrap="square" rtlCol="0" anchor="ctr"/>
          <a:lstStyle/>
          <a:p>
            <a:pPr lvl="0"/>
            <a:r>
              <a:rPr lang="en-US" b="1" dirty="0"/>
              <a:t>Are there recurring </a:t>
            </a:r>
            <a:r>
              <a:rPr lang="en-US" b="1" dirty="0" err="1"/>
              <a:t>weekday×hour</a:t>
            </a:r>
            <a:r>
              <a:rPr lang="en-US" b="1" dirty="0"/>
              <a:t> hotspots for unmet demand?</a:t>
            </a:r>
            <a:endParaRPr lang="en-GH" b="1" dirty="0"/>
          </a:p>
        </p:txBody>
      </p:sp>
      <p:sp>
        <p:nvSpPr>
          <p:cNvPr id="72" name="Shape 70"/>
          <p:cNvSpPr/>
          <p:nvPr/>
        </p:nvSpPr>
        <p:spPr>
          <a:xfrm>
            <a:off x="8321040" y="1325880"/>
            <a:ext cx="3840480" cy="1920240"/>
          </a:xfrm>
          <a:prstGeom prst="roundRect">
            <a:avLst/>
          </a:prstGeom>
          <a:solidFill>
            <a:srgbClr val="FFFFFF"/>
          </a:solidFill>
          <a:ln w="12700">
            <a:solidFill>
              <a:srgbClr val="E5E7EB"/>
            </a:solidFill>
            <a:prstDash val="solid"/>
          </a:ln>
        </p:spPr>
        <p:txBody>
          <a:bodyPr/>
          <a:lstStyle/>
          <a:p>
            <a:endParaRPr lang="en-GH"/>
          </a:p>
        </p:txBody>
      </p:sp>
      <p:sp>
        <p:nvSpPr>
          <p:cNvPr id="73" name="Shape 71"/>
          <p:cNvSpPr/>
          <p:nvPr/>
        </p:nvSpPr>
        <p:spPr>
          <a:xfrm>
            <a:off x="8356870" y="1214123"/>
            <a:ext cx="109728" cy="1920240"/>
          </a:xfrm>
          <a:prstGeom prst="rect">
            <a:avLst/>
          </a:prstGeom>
          <a:solidFill>
            <a:srgbClr val="2563EB"/>
          </a:solidFill>
          <a:ln w="12700">
            <a:solidFill>
              <a:srgbClr val="2563EB"/>
            </a:solidFill>
            <a:prstDash val="solid"/>
          </a:ln>
        </p:spPr>
        <p:txBody>
          <a:bodyPr/>
          <a:lstStyle/>
          <a:p>
            <a:endParaRPr lang="en-GH"/>
          </a:p>
        </p:txBody>
      </p:sp>
      <p:sp>
        <p:nvSpPr>
          <p:cNvPr id="74" name="Text 72"/>
          <p:cNvSpPr/>
          <p:nvPr/>
        </p:nvSpPr>
        <p:spPr>
          <a:xfrm>
            <a:off x="8503920" y="1463040"/>
            <a:ext cx="3566160"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Peak gap day</a:t>
            </a:r>
            <a:endParaRPr lang="en-US" sz="1300" dirty="0"/>
          </a:p>
        </p:txBody>
      </p:sp>
      <p:sp>
        <p:nvSpPr>
          <p:cNvPr id="75" name="Text 73"/>
          <p:cNvSpPr/>
          <p:nvPr/>
        </p:nvSpPr>
        <p:spPr>
          <a:xfrm>
            <a:off x="8503920" y="1801368"/>
            <a:ext cx="3566160" cy="1325880"/>
          </a:xfrm>
          <a:prstGeom prst="rect">
            <a:avLst/>
          </a:prstGeom>
          <a:noFill/>
          <a:ln/>
        </p:spPr>
        <p:txBody>
          <a:bodyPr wrap="square" rtlCol="0" anchor="t"/>
          <a:lstStyle/>
          <a:p>
            <a:pPr marL="0" indent="0">
              <a:buNone/>
            </a:pPr>
            <a:r>
              <a:rPr lang="en-US" dirty="0">
                <a:solidFill>
                  <a:srgbClr val="374151"/>
                </a:solidFill>
                <a:latin typeface="Aptos" pitchFamily="34" charset="0"/>
                <a:ea typeface="Aptos" pitchFamily="34" charset="-122"/>
                <a:cs typeface="Aptos" pitchFamily="34" charset="-120"/>
              </a:rPr>
              <a:t>2016-07-14 → gap 823</a:t>
            </a:r>
            <a:endParaRPr lang="en-US" dirty="0"/>
          </a:p>
        </p:txBody>
      </p:sp>
      <p:sp>
        <p:nvSpPr>
          <p:cNvPr id="76" name="Shape 74"/>
          <p:cNvSpPr/>
          <p:nvPr/>
        </p:nvSpPr>
        <p:spPr>
          <a:xfrm>
            <a:off x="8321040" y="3383280"/>
            <a:ext cx="3840480" cy="2651760"/>
          </a:xfrm>
          <a:prstGeom prst="roundRect">
            <a:avLst/>
          </a:prstGeom>
          <a:solidFill>
            <a:srgbClr val="FFFFFF"/>
          </a:solidFill>
          <a:ln w="12700">
            <a:solidFill>
              <a:srgbClr val="E5E7EB"/>
            </a:solidFill>
            <a:prstDash val="solid"/>
          </a:ln>
        </p:spPr>
        <p:txBody>
          <a:bodyPr/>
          <a:lstStyle/>
          <a:p>
            <a:endParaRPr lang="en-GH"/>
          </a:p>
        </p:txBody>
      </p:sp>
      <p:sp>
        <p:nvSpPr>
          <p:cNvPr id="77" name="Shape 75"/>
          <p:cNvSpPr/>
          <p:nvPr/>
        </p:nvSpPr>
        <p:spPr>
          <a:xfrm>
            <a:off x="8321040" y="3383280"/>
            <a:ext cx="109728" cy="2651760"/>
          </a:xfrm>
          <a:prstGeom prst="rect">
            <a:avLst/>
          </a:prstGeom>
          <a:solidFill>
            <a:srgbClr val="DC2626"/>
          </a:solidFill>
          <a:ln w="12700">
            <a:solidFill>
              <a:srgbClr val="DC2626"/>
            </a:solidFill>
            <a:prstDash val="solid"/>
          </a:ln>
        </p:spPr>
        <p:txBody>
          <a:bodyPr/>
          <a:lstStyle/>
          <a:p>
            <a:endParaRPr lang="en-GH"/>
          </a:p>
        </p:txBody>
      </p:sp>
      <p:sp>
        <p:nvSpPr>
          <p:cNvPr id="78" name="Text 76"/>
          <p:cNvSpPr/>
          <p:nvPr/>
        </p:nvSpPr>
        <p:spPr>
          <a:xfrm>
            <a:off x="8503920" y="3520440"/>
            <a:ext cx="3566160" cy="274320"/>
          </a:xfrm>
          <a:prstGeom prst="rect">
            <a:avLst/>
          </a:prstGeom>
          <a:noFill/>
          <a:ln/>
        </p:spPr>
        <p:txBody>
          <a:bodyPr wrap="square" rtlCol="0" anchor="ctr"/>
          <a:lstStyle/>
          <a:p>
            <a:pPr marL="0" indent="0">
              <a:buNone/>
            </a:pPr>
            <a:r>
              <a:rPr lang="en-US" sz="1300" b="1" dirty="0">
                <a:solidFill>
                  <a:srgbClr val="111827"/>
                </a:solidFill>
                <a:latin typeface="Aptos" pitchFamily="34" charset="0"/>
                <a:ea typeface="Aptos" pitchFamily="34" charset="-122"/>
                <a:cs typeface="Aptos" pitchFamily="34" charset="-120"/>
              </a:rPr>
              <a:t>Top hotspot cells (unmet)</a:t>
            </a:r>
            <a:endParaRPr lang="en-US" sz="1300" dirty="0"/>
          </a:p>
        </p:txBody>
      </p:sp>
      <p:sp>
        <p:nvSpPr>
          <p:cNvPr id="79" name="Text 77"/>
          <p:cNvSpPr/>
          <p:nvPr/>
        </p:nvSpPr>
        <p:spPr>
          <a:xfrm>
            <a:off x="8503920" y="3858768"/>
            <a:ext cx="3566160" cy="2057400"/>
          </a:xfrm>
          <a:prstGeom prst="rect">
            <a:avLst/>
          </a:prstGeom>
          <a:noFill/>
          <a:ln/>
        </p:spPr>
        <p:txBody>
          <a:bodyPr wrap="square" rtlCol="0" anchor="t"/>
          <a:lstStyle/>
          <a:p>
            <a:pPr marL="0" indent="0">
              <a:buNone/>
            </a:pPr>
            <a:r>
              <a:rPr lang="en-US" sz="1600" dirty="0">
                <a:solidFill>
                  <a:srgbClr val="374151"/>
                </a:solidFill>
                <a:latin typeface="Aptos" pitchFamily="34" charset="0"/>
                <a:ea typeface="Aptos" pitchFamily="34" charset="-122"/>
                <a:cs typeface="Aptos" pitchFamily="34" charset="-120"/>
              </a:rPr>
              <a:t>Thu at 20:00 → 75</a:t>
            </a: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Mon at 18:00 → 74</a:t>
            </a: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Fri at 18:00 → 74</a:t>
            </a: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Thu at19:00 → 72</a:t>
            </a:r>
            <a:endParaRPr lang="en-US" sz="1600" dirty="0"/>
          </a:p>
          <a:p>
            <a:pPr marL="0" indent="0">
              <a:buNone/>
            </a:pPr>
            <a:endParaRPr lang="en-US" sz="1600" dirty="0"/>
          </a:p>
          <a:p>
            <a:pPr marL="0" indent="0">
              <a:buNone/>
            </a:pPr>
            <a:r>
              <a:rPr lang="en-US" sz="1600" dirty="0">
                <a:solidFill>
                  <a:srgbClr val="374151"/>
                </a:solidFill>
                <a:latin typeface="Aptos" pitchFamily="34" charset="0"/>
                <a:ea typeface="Aptos" pitchFamily="34" charset="-122"/>
                <a:cs typeface="Aptos" pitchFamily="34" charset="-120"/>
              </a:rPr>
              <a:t>Pattern: weekday evenings (18–21) dominate.</a:t>
            </a:r>
            <a:endParaRPr lang="en-US" sz="1600" dirty="0"/>
          </a:p>
        </p:txBody>
      </p:sp>
      <p:sp>
        <p:nvSpPr>
          <p:cNvPr id="80" name="Text 78"/>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Q4 highlights predictable hotspot windows → plan supply/incentives in advance</a:t>
            </a:r>
            <a:endParaRPr lang="en-US" sz="1000" dirty="0"/>
          </a:p>
        </p:txBody>
      </p:sp>
      <p:pic>
        <p:nvPicPr>
          <p:cNvPr id="81" name="Picture 80">
            <a:extLst>
              <a:ext uri="{FF2B5EF4-FFF2-40B4-BE49-F238E27FC236}">
                <a16:creationId xmlns:a16="http://schemas.microsoft.com/office/drawing/2014/main" id="{D28359E5-2A36-B0CE-4F4F-EA09156A0690}"/>
              </a:ext>
            </a:extLst>
          </p:cNvPr>
          <p:cNvPicPr>
            <a:picLocks noChangeAspect="1"/>
          </p:cNvPicPr>
          <p:nvPr/>
        </p:nvPicPr>
        <p:blipFill>
          <a:blip r:embed="rId3"/>
          <a:stretch>
            <a:fillRect/>
          </a:stretch>
        </p:blipFill>
        <p:spPr>
          <a:xfrm>
            <a:off x="365973" y="1801368"/>
            <a:ext cx="7582463" cy="30318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11827"/>
          </a:solidFill>
          <a:ln w="12700">
            <a:solidFill>
              <a:srgbClr val="111827"/>
            </a:solidFill>
            <a:prstDash val="solid"/>
          </a:ln>
        </p:spPr>
        <p:txBody>
          <a:bodyPr/>
          <a:lstStyle/>
          <a:p>
            <a:endParaRPr lang="en-GH"/>
          </a:p>
        </p:txBody>
      </p:sp>
      <p:sp>
        <p:nvSpPr>
          <p:cNvPr id="3" name="Text 1"/>
          <p:cNvSpPr/>
          <p:nvPr/>
        </p:nvSpPr>
        <p:spPr>
          <a:xfrm>
            <a:off x="548640" y="109728"/>
            <a:ext cx="11094415" cy="365760"/>
          </a:xfrm>
          <a:prstGeom prst="rect">
            <a:avLst/>
          </a:prstGeom>
          <a:noFill/>
          <a:ln/>
        </p:spPr>
        <p:txBody>
          <a:bodyPr wrap="square" rtlCol="0" anchor="ctr"/>
          <a:lstStyle/>
          <a:p>
            <a:pPr marL="0" indent="0">
              <a:buNone/>
            </a:pPr>
            <a:r>
              <a:rPr lang="en-US" sz="2000" b="1" dirty="0">
                <a:solidFill>
                  <a:srgbClr val="FFFFFF"/>
                </a:solidFill>
                <a:latin typeface="Aptos" pitchFamily="34" charset="0"/>
                <a:ea typeface="Aptos" pitchFamily="34" charset="-122"/>
                <a:cs typeface="Aptos" pitchFamily="34" charset="-120"/>
              </a:rPr>
              <a:t>Recommendations &amp; next steps</a:t>
            </a:r>
            <a:endParaRPr lang="en-US" sz="2000" dirty="0"/>
          </a:p>
        </p:txBody>
      </p:sp>
      <p:sp>
        <p:nvSpPr>
          <p:cNvPr id="4" name="Text 2"/>
          <p:cNvSpPr/>
          <p:nvPr/>
        </p:nvSpPr>
        <p:spPr>
          <a:xfrm>
            <a:off x="731520" y="868680"/>
            <a:ext cx="10728655" cy="365760"/>
          </a:xfrm>
          <a:prstGeom prst="rect">
            <a:avLst/>
          </a:prstGeom>
          <a:noFill/>
          <a:ln/>
        </p:spPr>
        <p:txBody>
          <a:bodyPr wrap="square" rtlCol="0" anchor="ctr"/>
          <a:lstStyle/>
          <a:p>
            <a:pPr marL="0" indent="0">
              <a:buNone/>
            </a:pPr>
            <a:r>
              <a:rPr lang="en-US" sz="1800" b="1" dirty="0">
                <a:solidFill>
                  <a:srgbClr val="111827"/>
                </a:solidFill>
                <a:latin typeface="Aptos" pitchFamily="34" charset="0"/>
                <a:ea typeface="Aptos" pitchFamily="34" charset="-122"/>
                <a:cs typeface="Aptos" pitchFamily="34" charset="-120"/>
              </a:rPr>
              <a:t>Summary</a:t>
            </a:r>
            <a:endParaRPr lang="en-US" sz="1800" dirty="0"/>
          </a:p>
        </p:txBody>
      </p:sp>
      <p:sp>
        <p:nvSpPr>
          <p:cNvPr id="5" name="Shape 3"/>
          <p:cNvSpPr/>
          <p:nvPr/>
        </p:nvSpPr>
        <p:spPr>
          <a:xfrm>
            <a:off x="731520" y="1371600"/>
            <a:ext cx="7498080" cy="4663440"/>
          </a:xfrm>
          <a:prstGeom prst="roundRect">
            <a:avLst/>
          </a:prstGeom>
          <a:solidFill>
            <a:srgbClr val="FFFFFF"/>
          </a:solidFill>
          <a:ln w="12700">
            <a:solidFill>
              <a:srgbClr val="E5E7EB"/>
            </a:solidFill>
            <a:prstDash val="solid"/>
          </a:ln>
        </p:spPr>
        <p:txBody>
          <a:bodyPr/>
          <a:lstStyle/>
          <a:p>
            <a:endParaRPr lang="en-GH"/>
          </a:p>
        </p:txBody>
      </p:sp>
      <p:sp>
        <p:nvSpPr>
          <p:cNvPr id="6" name="Text 4"/>
          <p:cNvSpPr/>
          <p:nvPr/>
        </p:nvSpPr>
        <p:spPr>
          <a:xfrm>
            <a:off x="1097280" y="1691640"/>
            <a:ext cx="6766560" cy="4206240"/>
          </a:xfrm>
          <a:prstGeom prst="rect">
            <a:avLst/>
          </a:prstGeom>
          <a:noFill/>
          <a:ln/>
        </p:spPr>
        <p:txBody>
          <a:bodyPr wrap="square" rtlCol="0" anchor="t"/>
          <a:lstStyle/>
          <a:p>
            <a:r>
              <a:rPr lang="en-US" dirty="0"/>
              <a:t>Taken together, the findings, it indicate that unmet demand is both substantial and systematically patterned. The predominance of No Cars Available outcomes suggests that insufficient driver supply is the primary operational constraint. Moreover, the temporal analyses demonstrate that the demand–supply mismatch is concentrated within peak periods, rather than being evenly distributed across the day. Finally, the marked differences between pickup points imply that a single uniform policy is unlikely to be optimal; instead, interventions should be location-specific, combining airport-focused supply management (e.g., staging, queuing, and targeted incentives) with cancellation-reduction strategies in the city (e.g., improving matching efficiency, reducing wait times, and enhancing ETA accuracy).</a:t>
            </a:r>
            <a:endParaRPr lang="en-GH" b="1" dirty="0"/>
          </a:p>
        </p:txBody>
      </p:sp>
      <p:sp>
        <p:nvSpPr>
          <p:cNvPr id="7" name="Shape 5"/>
          <p:cNvSpPr/>
          <p:nvPr/>
        </p:nvSpPr>
        <p:spPr>
          <a:xfrm>
            <a:off x="8458200" y="1371600"/>
            <a:ext cx="3730752" cy="5093208"/>
          </a:xfrm>
          <a:prstGeom prst="roundRect">
            <a:avLst/>
          </a:prstGeom>
          <a:solidFill>
            <a:srgbClr val="FFFFFF"/>
          </a:solidFill>
          <a:ln w="12700">
            <a:solidFill>
              <a:srgbClr val="E5E7EB"/>
            </a:solidFill>
            <a:prstDash val="solid"/>
          </a:ln>
        </p:spPr>
        <p:txBody>
          <a:bodyPr/>
          <a:lstStyle/>
          <a:p>
            <a:r>
              <a:rPr lang="en-US" sz="1400" b="1" dirty="0"/>
              <a:t>Actionable recommendations</a:t>
            </a:r>
          </a:p>
          <a:p>
            <a:endParaRPr lang="en-GH" sz="1400" b="1" dirty="0"/>
          </a:p>
          <a:p>
            <a:pPr marL="285750" lvl="0" indent="-285750">
              <a:buFont typeface="Wingdings" panose="05000000000000000000" pitchFamily="2" charset="2"/>
              <a:buChar char="§"/>
            </a:pPr>
            <a:r>
              <a:rPr lang="en-US" sz="1400" dirty="0"/>
              <a:t>Implement time-targeted incentives and/or surge mechanisms during peak-gap windows, </a:t>
            </a:r>
            <a:r>
              <a:rPr lang="en-US" sz="1400" dirty="0" err="1"/>
              <a:t>prioritising</a:t>
            </a:r>
            <a:r>
              <a:rPr lang="en-US" sz="1400" dirty="0"/>
              <a:t> the highest-gap hours.</a:t>
            </a:r>
            <a:endParaRPr lang="en-GH" sz="1400" dirty="0"/>
          </a:p>
          <a:p>
            <a:pPr marL="285750" lvl="0" indent="-285750">
              <a:buFont typeface="Wingdings" panose="05000000000000000000" pitchFamily="2" charset="2"/>
              <a:buChar char="§"/>
            </a:pPr>
            <a:r>
              <a:rPr lang="en-US" sz="1400" dirty="0"/>
              <a:t>Introduce airport staging/queue management and airport-specific incentives to reduce No Cars Available outcomes.</a:t>
            </a:r>
            <a:endParaRPr lang="en-GH" sz="1400" dirty="0"/>
          </a:p>
          <a:p>
            <a:pPr marL="285750" lvl="0" indent="-285750">
              <a:buFont typeface="Wingdings" panose="05000000000000000000" pitchFamily="2" charset="2"/>
              <a:buChar char="§"/>
            </a:pPr>
            <a:r>
              <a:rPr lang="en-US" sz="1400" dirty="0"/>
              <a:t>Reduce cancellations by focusing on wait-time reduction, including matching improvements and driver rebalancing during high-cancellation periods.</a:t>
            </a:r>
            <a:endParaRPr lang="en-GH" sz="1400" dirty="0"/>
          </a:p>
          <a:p>
            <a:pPr marL="285750" lvl="0" indent="-285750">
              <a:buFont typeface="Wingdings" panose="05000000000000000000" pitchFamily="2" charset="2"/>
              <a:buChar char="§"/>
            </a:pPr>
            <a:r>
              <a:rPr lang="en-US" sz="1400" dirty="0"/>
              <a:t>Establish ongoing monitoring and evaluation, tracking status distributions, hourly gaps, and weekday–hour hotspots over time, and assessing intervention impact using pre/post comparisons.</a:t>
            </a:r>
            <a:endParaRPr lang="en-GH" sz="1400" dirty="0"/>
          </a:p>
          <a:p>
            <a:pPr marL="285750" lvl="0" indent="-285750">
              <a:buFont typeface="Wingdings" panose="05000000000000000000" pitchFamily="2" charset="2"/>
              <a:buChar char="§"/>
            </a:pPr>
            <a:r>
              <a:rPr lang="en-US" sz="1400" dirty="0"/>
              <a:t>Limitations and future work</a:t>
            </a:r>
            <a:endParaRPr lang="en-GH" sz="1400" dirty="0"/>
          </a:p>
        </p:txBody>
      </p:sp>
      <p:sp>
        <p:nvSpPr>
          <p:cNvPr id="8" name="Shape 6"/>
          <p:cNvSpPr/>
          <p:nvPr/>
        </p:nvSpPr>
        <p:spPr>
          <a:xfrm>
            <a:off x="8458200" y="1371600"/>
            <a:ext cx="109728" cy="2331720"/>
          </a:xfrm>
          <a:prstGeom prst="rect">
            <a:avLst/>
          </a:prstGeom>
          <a:solidFill>
            <a:srgbClr val="00B14F"/>
          </a:solidFill>
          <a:ln w="12700">
            <a:solidFill>
              <a:srgbClr val="00B14F"/>
            </a:solidFill>
            <a:prstDash val="solid"/>
          </a:ln>
        </p:spPr>
        <p:txBody>
          <a:bodyPr/>
          <a:lstStyle/>
          <a:p>
            <a:endParaRPr lang="en-GH"/>
          </a:p>
        </p:txBody>
      </p:sp>
      <p:sp>
        <p:nvSpPr>
          <p:cNvPr id="10" name="Text 8"/>
          <p:cNvSpPr/>
          <p:nvPr/>
        </p:nvSpPr>
        <p:spPr>
          <a:xfrm>
            <a:off x="8641080" y="1847088"/>
            <a:ext cx="3456432" cy="1737360"/>
          </a:xfrm>
          <a:prstGeom prst="rect">
            <a:avLst/>
          </a:prstGeom>
          <a:noFill/>
          <a:ln/>
        </p:spPr>
        <p:txBody>
          <a:bodyPr wrap="square" rtlCol="0" anchor="t"/>
          <a:lstStyle/>
          <a:p>
            <a:pPr marL="0" indent="0">
              <a:buNone/>
            </a:pPr>
            <a:endParaRPr lang="en-US" sz="1100" dirty="0"/>
          </a:p>
        </p:txBody>
      </p:sp>
      <p:sp>
        <p:nvSpPr>
          <p:cNvPr id="12" name="Shape 10"/>
          <p:cNvSpPr/>
          <p:nvPr/>
        </p:nvSpPr>
        <p:spPr>
          <a:xfrm>
            <a:off x="8458200" y="3886200"/>
            <a:ext cx="109728" cy="2148840"/>
          </a:xfrm>
          <a:prstGeom prst="rect">
            <a:avLst/>
          </a:prstGeom>
          <a:solidFill>
            <a:srgbClr val="2563EB"/>
          </a:solidFill>
          <a:ln w="12700">
            <a:solidFill>
              <a:srgbClr val="2563EB"/>
            </a:solidFill>
            <a:prstDash val="solid"/>
          </a:ln>
        </p:spPr>
        <p:txBody>
          <a:bodyPr/>
          <a:lstStyle/>
          <a:p>
            <a:endParaRPr lang="en-GH"/>
          </a:p>
        </p:txBody>
      </p:sp>
      <p:sp>
        <p:nvSpPr>
          <p:cNvPr id="15" name="Text 13"/>
          <p:cNvSpPr/>
          <p:nvPr/>
        </p:nvSpPr>
        <p:spPr>
          <a:xfrm>
            <a:off x="548640" y="6537960"/>
            <a:ext cx="11094415" cy="274320"/>
          </a:xfrm>
          <a:prstGeom prst="rect">
            <a:avLst/>
          </a:prstGeom>
          <a:noFill/>
          <a:ln/>
        </p:spPr>
        <p:txBody>
          <a:bodyPr wrap="square" rtlCol="0" anchor="ctr"/>
          <a:lstStyle/>
          <a:p>
            <a:pPr marL="0" indent="0">
              <a:buNone/>
            </a:pPr>
            <a:r>
              <a:rPr lang="en-US" sz="1000" dirty="0">
                <a:solidFill>
                  <a:srgbClr val="374151"/>
                </a:solidFill>
                <a:latin typeface="Aptos" pitchFamily="34" charset="0"/>
                <a:ea typeface="Aptos" pitchFamily="34" charset="-122"/>
                <a:cs typeface="Aptos" pitchFamily="34" charset="-120"/>
              </a:rPr>
              <a:t>Thank you — questions?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1033</Words>
  <Application>Microsoft Office PowerPoint</Application>
  <PresentationFormat>Widescreen</PresentationFormat>
  <Paragraphs>112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Silas YAKALIM</cp:lastModifiedBy>
  <cp:revision>3</cp:revision>
  <dcterms:created xsi:type="dcterms:W3CDTF">2026-02-01T12:02:21Z</dcterms:created>
  <dcterms:modified xsi:type="dcterms:W3CDTF">2026-02-01T14:04:31Z</dcterms:modified>
</cp:coreProperties>
</file>